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51015" y="537209"/>
            <a:ext cx="213969" cy="59436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51015" y="1223010"/>
            <a:ext cx="689457" cy="36575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51015" y="1680210"/>
            <a:ext cx="213969" cy="70865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51015" y="2480310"/>
            <a:ext cx="213969" cy="70865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75527" y="3280410"/>
            <a:ext cx="689457" cy="48005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95743" y="3463290"/>
            <a:ext cx="1046073" cy="116586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1" y="548641"/>
            <a:ext cx="55714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B5341"/>
                </a:solidFill>
              </a:defRPr>
            </a:pPr>
            <a:r>
              <a:rPr dirty="0"/>
              <a:t>GENETIC ALGORITHM: </a:t>
            </a:r>
            <a:endParaRPr lang="en-US" dirty="0"/>
          </a:p>
          <a:p>
            <a:pPr>
              <a:defRPr sz="2800" b="1">
                <a:solidFill>
                  <a:srgbClr val="4B5341"/>
                </a:solidFill>
              </a:defRPr>
            </a:pPr>
            <a:r>
              <a:rPr dirty="0"/>
              <a:t>SCHEDULING SYSTEM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1800" b="1">
                <a:solidFill>
                  <a:srgbClr val="4B5341"/>
                </a:solidFill>
              </a:defRPr>
            </a:pPr>
            <a:r>
              <a:t>1. Initialization Phase</a:t>
            </a:r>
          </a:p>
          <a:p>
            <a:pPr>
              <a:spcBef>
                <a:spcPts val="1400"/>
              </a:spcBef>
              <a:defRPr sz="1800" b="1">
                <a:solidFill>
                  <a:srgbClr val="4B5341"/>
                </a:solidFill>
              </a:defRPr>
            </a:pPr>
            <a:r>
              <a:t>2. Pre-Feasibility Check</a:t>
            </a:r>
          </a:p>
          <a:p>
            <a:pPr>
              <a:spcBef>
                <a:spcPts val="1400"/>
              </a:spcBef>
              <a:defRPr sz="1800" b="1">
                <a:solidFill>
                  <a:srgbClr val="4B5341"/>
                </a:solidFill>
              </a:defRPr>
            </a:pPr>
            <a:r>
              <a:t>3. Population Generation</a:t>
            </a:r>
          </a:p>
          <a:p>
            <a:pPr>
              <a:spcBef>
                <a:spcPts val="1400"/>
              </a:spcBef>
              <a:defRPr sz="1800" b="1">
                <a:solidFill>
                  <a:srgbClr val="4B5341"/>
                </a:solidFill>
              </a:defRPr>
            </a:pPr>
            <a:r>
              <a:t>4. NSGA-II Evolution</a:t>
            </a:r>
          </a:p>
          <a:p>
            <a:pPr>
              <a:spcBef>
                <a:spcPts val="1400"/>
              </a:spcBef>
              <a:defRPr sz="1800" b="1">
                <a:solidFill>
                  <a:srgbClr val="4B5341"/>
                </a:solidFill>
              </a:defRPr>
            </a:pPr>
            <a:r>
              <a:t>5. Termination Check</a:t>
            </a:r>
          </a:p>
          <a:p>
            <a:pPr>
              <a:spcBef>
                <a:spcPts val="1400"/>
              </a:spcBef>
              <a:defRPr sz="18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1234439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1280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6720840"/>
            <a:ext cx="5515660" cy="29260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67665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10378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10424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67792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68249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231800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23225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24094440"/>
            <a:ext cx="8368588" cy="9326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241401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1874519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5532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827532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9189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119329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5590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21991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238201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2564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23820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2564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656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747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839212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6563320"/>
            <a:ext cx="0" cy="27431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93065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302209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311353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311353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320497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320497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7419320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722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813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9050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99648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308792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317936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317936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32708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1: Hardware Scaling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Checks how powerful your computer is. Sample: A fast laptop makes 200 schedules at once. Visualization: A manager dividing work among available workers.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320039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36575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5806440"/>
            <a:ext cx="5515660" cy="29260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58521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94640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9509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58648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59105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222656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223113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23180040"/>
            <a:ext cx="8368588" cy="9326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232257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9601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874519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4617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736092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8275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110185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4676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21076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229057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22905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564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656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747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56489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839212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93065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302209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302209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311353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311353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6504920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722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813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9050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99648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308792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308792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317936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2: Start Execution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The formal entry point of the algorithm. Sample: Setting the timer to 0 and preparing the logs. Visualization: Flipping the master switch in a power plant.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5943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5486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4892040"/>
            <a:ext cx="5515660" cy="29260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4937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85496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85953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4950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4996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213512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21396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22265640"/>
            <a:ext cx="8368588" cy="9326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223113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457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9601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1874519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3703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644652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7360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101041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3761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20162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219913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21991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564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656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4734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747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839212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93065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93065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302209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302209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5590520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21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722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813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9050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99648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99648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308792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3: Query Database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Gets the list of classes, teachers, and rooms from the database. Sample: Querying the list of 87 courses and 29 professors. Visualization: A librarian pulling books from the shelves.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5087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4630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397764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40233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76352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76809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40360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4081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204368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204825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21351240"/>
            <a:ext cx="8368588" cy="9326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213969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86868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457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9601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1874519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2788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553212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6446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91897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2847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9248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210769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21076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564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38201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656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747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8392120"/>
            <a:ext cx="3803904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8392120"/>
            <a:ext cx="2852928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930651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9306519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4676120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12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21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722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813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9050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9050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99648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4: Load Campus Data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Counts and organizes the data pulled from the database. Sample: Loaded 87 courses, 43 sections, 29 faculty, 17 rooms. Visualization: Grouping stacked books by subject and counting pages.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24231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23774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306324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3108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6720840"/>
            <a:ext cx="1711756" cy="56692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67665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31216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31673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95224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95681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20436840"/>
            <a:ext cx="8368588" cy="9326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204825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78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86868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457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9601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1874519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461772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5532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82753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1932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8333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201625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20162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29057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564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656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7477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7477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8392120"/>
            <a:ext cx="3803904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8392120"/>
            <a:ext cx="2852928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3761720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203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12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21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722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813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813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9050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5: Parse Pre-assignments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Locks in schedules that cannot be changed. Sample: Locking Prof A's class to Monday 8 AM. Visualization: Hammering a nail into a calendar date.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42519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42062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123444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12801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4892040"/>
            <a:ext cx="1711756" cy="56692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4937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12928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13385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76936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77393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86080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86537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361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269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78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86868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4571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1874519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78892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3703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64465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0104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6504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83337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8333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10769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473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5648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5648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6563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6563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19329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386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295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203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12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21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722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6: check_room_feasibility()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A quick sanity check to see if all classes can fit in the rooms. Sample: 500 hours needed but only 300 hours room space = Error. Visualization: Fitting 10 gallons of water in a 5-gallon bucket.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51663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51206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32004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365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3977640"/>
            <a:ext cx="1711756" cy="56692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40233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0378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0424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67792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6824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76936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77393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452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361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269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78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868680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9601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1874519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187451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788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55321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9189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5590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74193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7419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20162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382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4734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4734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5648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5648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10185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386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295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203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12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16184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630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7: Is it Feasible?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Decision box for the feasibility result. Returns Green if everything fits perfectly. Visualization: A traffic light turning green or red.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60807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60350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5943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548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3063240"/>
            <a:ext cx="1711756" cy="56692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31089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94640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9509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58648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59105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67792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68249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5440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452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361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269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783080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457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96011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96011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1874519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46177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8275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4676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65049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6504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92481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1991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290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3820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3820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4734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4734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01041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386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295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203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21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447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539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8: HC-24 Filter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Gives a pass to sections with very few available time slots. Sample: Exempting Section X from the no-gap rule because they only have 2 classes.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79095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7863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24231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2377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1234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1280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76352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76809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40360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4081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49504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49961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3611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8686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45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27889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6446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2847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46761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4676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74193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1076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1991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1991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2905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2905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82753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356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9: create_genome()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Creates a blank template for a single schedule. Sample: A blank grid with 5 days and 12 hours per day. Visualization: Buying a blank calendar book.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88239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8778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33375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32918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3200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365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67208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67665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31216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31673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40360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40817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45262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17830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8686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18745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5532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1932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37617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3761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65049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20162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1076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1076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1991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1991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73609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2649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10: Copy Fixed Genes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Places the locked schedules into the blank template. Sample: Copying Prof A's Monday 8 AM class. Visualization: Writing down national holidays on your calendar.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97383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9692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42519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4206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594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548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5806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5852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22072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2252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31216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31673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54406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26974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17830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9601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4617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1018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28473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2847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5590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9248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20162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20162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1076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1076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64465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1735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11: Iterate Sections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Loops through all remaining classes to find them a spot. Sample: Processing Data Structures for Section A. Visualization: Going through a stack of sticky notes.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06527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0607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51663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5120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1508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1463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48920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4937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12928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13385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22072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22529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63550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36118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2697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4572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3703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0104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19329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1932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46761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8333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9248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9248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20162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20162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55321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20820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12: Filter Valid Rooms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Ensures a class goes to the correct type of room. Sample: Putting a Lab class in a Lab room. Visualization: Checking if a room has a stove before scheduling a cooking class.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15671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1521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60807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6035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2423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2377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39776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40233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03784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04241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12928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13385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7269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45262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3611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868679"/>
            <a:ext cx="0" cy="36575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2788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9189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10185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1018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37617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7419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8333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8333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9248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9248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46177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9906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13: Heuristic Placement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Smartly places classes to avoid gaps and pack them tightly. Sample: Putting a 1-hour class in a 1-hour gap. Visualization: Playing Tetris and fitting a piece perfectly.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24815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2435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69951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6949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3337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3291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30632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31089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94640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9509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103784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104241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8183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54406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45262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1783079"/>
            <a:ext cx="0" cy="36575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874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8275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01041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0104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28473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5590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6504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7419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7419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8333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8333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37033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8077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8992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14: Population Full?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Checks if counter reached population size. Sample: Checking if we have reached the 200 schedules limit. Visualization: A bus driver checking if all seats are taken.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43103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4264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88239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8778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5166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5120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234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280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76352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7680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85496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85953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00126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72694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63550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3611879"/>
            <a:ext cx="0" cy="36575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45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6446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82753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8275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1018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5590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5590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6504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6504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8745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15: Start Loop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Starts the main generational NSGA-II loop. Sample: Generation counter sets to 1. Visualization: The starting gun of a marathon race.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52247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5179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97383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9692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6080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6035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3200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3657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67208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67665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76352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76809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0927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81838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7269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4526279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-8686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55321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73609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7360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01041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4676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4676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5590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5590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9601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16: Inject New Data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Inserts user edits made while the program is running. Sample: User blocks Prof B on Fridays mid-run. Visualization: Dropping a new ingredient into boiling soup.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61391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6093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106527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10607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6995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6949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-594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-548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58064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58521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67208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67665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1841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90982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8183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5440679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-17830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4617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64465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6446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91897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3761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3761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4676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4676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457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17: Calculate Fitness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Scores each schedule based on conflicts and preferences. Sample: 10 conflicts and 85% soft score. Visualization: Judges scoring athletes in a tournament.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70535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7007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115671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11521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7909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7863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-1508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-1463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48920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4937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58064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58521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2755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100126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90982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6355079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-2697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37033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55321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5532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82753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2847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2847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3761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3761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-8686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18: Bitmask Caching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A super-fast scanner to check for schedule overlaps. Sample: Checks 8 hours of conflicts in one microsecond. Visualization: Using a stencil overlay on a map.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79679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7922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124815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124358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88239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8778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-2423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-2377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39776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40233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48920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49377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3670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109270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100126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7269479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-3611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27889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46177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4617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73609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1932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1932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2847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2847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-17830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19: NSGA-II Sorting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Sorts schedules from best to worst based on multiple goals. Sample: Ranked into Front 1, Front 2. Visualization: Sorting athletes by both speed and strength.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88823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8836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133959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13350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9738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9692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-3337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-3291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30632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3108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39776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40233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4584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118414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10927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8183879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-45262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1874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37033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3703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6446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1018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1018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1932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1932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-26974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20: Identify Best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Picks the top-ranked schedule from the batch. Sample: 0 hard conflicts and highest soft score. Visualization: Crowning the gold medalist of the tournament.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207111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20665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152247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15179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11567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11521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-5166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-5120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12344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12801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21488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21945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6413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136702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12755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10012680"/>
            <a:ext cx="0" cy="36576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-63550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45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18745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1874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46177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8275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9189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9189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0104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0104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-45262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21: Flawless Schedule?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Checks if Hard Conflicts are exactly 0 and preferences are met. Visualization: A teacher checking a perfect test score.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20025" y="-216255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20025" y="-21579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0025" y="-161391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20025" y="-16093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0025" y="-12481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20025" y="-12435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0025" y="-6080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0025" y="-6035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6121" y="3200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6121" y="365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1001" y="12344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1001" y="12801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75904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75904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75904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75904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75904" y="-17327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75904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75904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75904" y="-145846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75904" y="-13670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75904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75904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75904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75904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75904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75904" y="-10927080"/>
            <a:ext cx="0" cy="36576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75904" y="-7269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75904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75904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75904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75904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75904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75904" y="-8686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572000" y="960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75904" y="960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79808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79808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79808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179808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179808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179808" y="37033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179808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179808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179808" y="8275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326880" y="8275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2179808" y="9189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26880" y="91897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8375904" y="-54406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607808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07808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07808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07808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07808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07808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11712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07808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7808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07808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07808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07808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07808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07808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07808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07808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07808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07808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07808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07808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07808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411712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11712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11712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11712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411712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411712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11712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11712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215616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5878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411712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22: Perfect Auto-Stop!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Stops the program early if a perfect schedule is found. Sample: Stops at Round 50 instead of 1000. Visualization: Handing in an exam early because you know you got 100%.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20025" y="-225399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20025" y="-22494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0025" y="-170535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20025" y="-170078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0025" y="-133959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20025" y="-13350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0025" y="-6995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0025" y="-6949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6121" y="-5943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6121" y="-548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1001" y="3200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1001" y="3657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75904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75904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75904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75904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75904" y="-18242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75904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75904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75904" y="-154990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75904" y="-14584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75904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75904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75904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75904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75904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75904" y="-11841480"/>
            <a:ext cx="0" cy="36576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75904" y="-8183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75904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75904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75904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75904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75904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75904" y="-17830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572000" y="45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75904" y="457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79808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79808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79808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179808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179808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179808" y="27889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179808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179808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179808" y="7360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326880" y="7360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2179808" y="8275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26880" y="82753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8375904" y="-63550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607808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07808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07808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07808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07808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07808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11712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07808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7808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07808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07808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07808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07808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07808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07808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07808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07808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07808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07808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07808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07808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411712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11712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11712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11712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411712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411712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11712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11712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215616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5878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411712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23: Local Search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Polishes the final schedule to remove any small remaining gaps. Sample: Swapping two classes to remove a 1-hour student gap. Visualization: Polishing a finished diamond.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20025" y="-234543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20025" y="-23408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0025" y="-179679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20025" y="-17922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0025" y="-14310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20025" y="-14264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0025" y="-7909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0025" y="-7863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6121" y="-15087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6121" y="-1463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1001" y="-5943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1001" y="-5486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75904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75904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75904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75904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75904" y="-19156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75904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75904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75904" y="-164134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75904" y="-15499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75904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75904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75904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75904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75904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75904" y="-127558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75904" y="-90982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75904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75904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75904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75904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75904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75904" y="-2697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572000" y="-868679"/>
            <a:ext cx="3803904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75904" y="-868679"/>
            <a:ext cx="3803904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79808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79808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79808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179808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179808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179808" y="1874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179808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179808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179808" y="6446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326880" y="6446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2179808" y="7360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26880" y="7360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8375904" y="-7269479"/>
            <a:ext cx="3803904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607808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07808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07808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07808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07808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07808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11712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07808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7808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07808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07808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07808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07808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07808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07808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07808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07808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07808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07808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07808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07808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411712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11712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11712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11712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411712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411712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11712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11712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215616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5878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411712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24: Return Best Schedule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Saves the schedule and returns it to the user. Sample: Exporting the final schedule as a PDF. Visualization: Delivering a finished custom-built car.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16255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1579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161391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16093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2481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2435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6080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6035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3200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3657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12344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12801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17327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145846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3670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0927080"/>
            <a:ext cx="0" cy="36576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7269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8686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9601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9601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37033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7360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82753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82753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91897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91897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5440679"/>
            <a:ext cx="3803905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25: Elitism Selection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Carries over the best schedules to the next round without changing them. Visualization: Exempting the top students from the final exam.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25399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2494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170535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170078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33959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3350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6995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6949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5943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548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3200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3657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18242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154990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4584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1841480"/>
            <a:ext cx="0" cy="36576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8183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1783079"/>
            <a:ext cx="0" cy="1828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457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457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27889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6446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73609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73609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82753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82753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6355079"/>
            <a:ext cx="3803905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26: Refill New Pool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Prepares the evolutionary canvas. We refill the new pool to begin passing on genes.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34543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3408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179679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17922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4310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4264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7909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7863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15087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1463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5943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5486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19156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164134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5499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27558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90982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2697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868679"/>
            <a:ext cx="3803903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868679"/>
            <a:ext cx="3803905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1874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64465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64465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73609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73609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7269479"/>
            <a:ext cx="3803905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27: select_parents()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Tournament Selection: Small groups compete, and the best win. Sample: Comparing 3 random schedules. Visualization: A small battle where the winner passes on genes.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43687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4323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188823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18836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5224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5179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88239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8778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24231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2377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15087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14630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3728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20071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173278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6413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36702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100126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3611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178307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1783079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9601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55321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55321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64465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64465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8183879"/>
            <a:ext cx="3803905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398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7104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28: crossover(p1, p2)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Combines the best parts of two parent schedules. Visualization: Cutting two good recipes in half and pasting them together.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52831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5237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197967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19751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6139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6093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9738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9692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33375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32918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24231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23774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464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3728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20985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182422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7327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45846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10927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45262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269747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2697479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457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46177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46177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55321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55321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9098280"/>
            <a:ext cx="3803905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489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398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29: Append Child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Appends the newly formed child schedule into the new population pool.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61975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6151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207111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20665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70535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7007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106527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10607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42519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4206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33375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32918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555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464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3728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21899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191566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8242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54990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11841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6355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54406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361187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3611879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-868679"/>
            <a:ext cx="0" cy="27431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37033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37033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46177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46177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10012680"/>
            <a:ext cx="3803905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581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489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398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30: Pool Full?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Checks if the new generation pool is completely filled before proceeding to mutation.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71119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7066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216255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215798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79679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7922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115671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115214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51663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5120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42519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42062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647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555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464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3728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22814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200710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19156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64134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12755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63550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452627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4526279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-1783079"/>
            <a:ext cx="0" cy="27431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27889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27889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37033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37033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10927080"/>
            <a:ext cx="3803905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672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581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489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398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31: proportional_mutate()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Changes the mutation rate based on how boring the population is. Visualization: Turning up the heat on a stove when the water stops boiling.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80263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7980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225399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22494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188823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18836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124815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124358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60807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60350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51663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51206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738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647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555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464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23728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20985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209854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20071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4584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73278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13670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72694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544067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5440679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-2697479"/>
            <a:ext cx="0" cy="27431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960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18745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18745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278892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2788920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11841480"/>
            <a:ext cx="3803905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764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672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581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489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2398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32: Has Conflicts?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Checks if the newly mutated schedule still has conflicts inside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3891686" y="-289407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3891686" y="-28895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3891686" y="-234543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3891686" y="-23408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3891686" y="-197967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3891686" y="-19751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3891686" y="-133959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3891686" y="-13350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7695590" y="-69951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7695590" y="-6949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-2940710" y="-60807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-2940710" y="-60350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-3035808" y="-28300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-3035808" y="-2738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-3035808" y="-2647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-3035808" y="-2555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-3035808" y="-24643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-3035808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-3035808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-3035808" y="-21899880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-3035808" y="-20985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-3035808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-3035808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-3035808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-3035808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-3035808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-3035808" y="-182422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-3035808" y="-14584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-3035808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-3035808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-3035808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-3035808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-3035808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-3035808" y="-8183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6839712" y="-635507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6839712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6839712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-3035808" y="-6355079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8096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8096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68096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8096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8096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8096" y="-3611879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8096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8096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8096" y="960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-2084831" y="960120"/>
            <a:ext cx="2852927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68096" y="1874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-2084831" y="1874520"/>
            <a:ext cx="2852927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-3035808" y="-1275588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-3803904" y="-2855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-3803904" y="-2764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-3803904" y="-2672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-3803904" y="-2581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-3803904" y="-2489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3803904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-3803904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-3803904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-3803904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-3803904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-3803904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-3803904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-3803904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-3803904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-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-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-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-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-3803904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-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-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7607808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7607808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7607808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-2852927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33: 10% Random Move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Forces a random change to explore new ideas. Visualization: Blindly throwing a dart to see if you hit a better spot.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65145" y="-28940760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65145" y="-28895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5145" y="-234543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65145" y="-234086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5145" y="-197967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65145" y="-197510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5145" y="-133959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65145" y="-133502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1038758" y="-6995159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1038758" y="-69494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6121" y="-6080759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6121" y="-6035039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21023" y="-28300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21023" y="-2738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21023" y="-2647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21023" y="-2555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21023" y="-24643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21023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21023" y="-21899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21023" y="-218998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21023" y="-20985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1023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21023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21023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21023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21023" y="-15499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621023" y="-182422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21023" y="-145846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21023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21023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21023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21023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621023" y="-9098280"/>
            <a:ext cx="0" cy="9144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21023" y="-81838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182880" y="-635507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182880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18288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21023" y="-6355079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24928" y="-54406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24928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24928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24928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24928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424928" y="-3611879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4928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24928" y="45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24928" y="9601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4572000" y="9601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424928" y="1874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0" y="1874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3621023" y="-12755880"/>
            <a:ext cx="3803905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852927" y="-2855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52927" y="-2764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52927" y="-2672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52927" y="-2581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52927" y="-2489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52927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52927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52927" y="-21241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52927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52927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52927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52927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52927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52927" y="-14840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52927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52927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52927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52927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52927" y="-9354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52927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52927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950976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950976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950976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56832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56832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56832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56832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56832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56832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56832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56832" y="704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60736" y="1618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56832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34: Targeted Repair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Sadyang inaayos ang conflict sa pamamagitan ng paghahanap ng bakante. Visualization: A mechanic replacing a broken part.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87782" y="-29855160"/>
            <a:ext cx="1711756" cy="4754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87782" y="-298094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87782" y="-24368760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87782" y="-2432304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87782" y="-207111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87782" y="-206654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87782" y="-1431036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87782" y="-1426464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891686" y="-790956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3891686" y="-786384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" y="-699516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" y="-694944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" y="-29215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" y="-28300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5" y="-2738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5" y="-2647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5" y="-255574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5" y="-23728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5" y="-22814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" y="-22814280"/>
            <a:ext cx="3803905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5" y="-218998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" y="-20071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5" y="-19156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" y="-18242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" y="-17327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5" y="-16413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5" y="-19156680"/>
            <a:ext cx="0" cy="36576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5" y="-154990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5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95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5" y="-10012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" y="-909828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-3035808" y="-7269480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-3035808" y="-6355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-3035808" y="-5440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5" y="-726948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-6355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-54406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-4526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-3611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-2697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-452628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2000" y="-1783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-868680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4571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19071" y="45719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4572000" y="960119"/>
            <a:ext cx="3803903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19071" y="960119"/>
            <a:ext cx="2852929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768095" y="-13670280"/>
            <a:ext cx="3803905" cy="155447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-2947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-2855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-2764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-2672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-2581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-2398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03904" y="-2307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-22155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-20327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-19412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-18498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-17583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-16669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-15755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-13926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-13011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-12097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-11183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-10268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-9354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-7525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-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-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-5696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03904" y="-38679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-29535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3904" y="-2039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03904" y="-11247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-210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7807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5" y="704087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35: Replace Population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Replaces the old population with the new improved one, and loops back to evaluate them again.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6121" y="-14310359"/>
            <a:ext cx="1711756" cy="47548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6121" y="-14264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1. Initialization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6121" y="-8823959"/>
            <a:ext cx="5515660" cy="29260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16121" y="-8778239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2. Pre-Feasibility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6121" y="-5166359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6121" y="-5120639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3. Population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6121" y="1234440"/>
            <a:ext cx="1711756" cy="56692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6121" y="1280160"/>
            <a:ext cx="17117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4. NSGA-II Evolution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87782" y="7635240"/>
            <a:ext cx="5515660" cy="3840479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87782" y="7680960"/>
            <a:ext cx="55156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5. Termination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097" y="8549640"/>
            <a:ext cx="8368588" cy="9326880"/>
          </a:xfrm>
          <a:prstGeom prst="roundRect">
            <a:avLst/>
          </a:prstGeom>
          <a:solidFill>
            <a:srgbClr val="F6F7F0"/>
          </a:solidFill>
          <a:ln w="19050">
            <a:solidFill>
              <a:srgbClr val="C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7097" y="8595360"/>
            <a:ext cx="83685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341"/>
                </a:solidFill>
              </a:defRPr>
            </a:pPr>
            <a:r>
              <a:t>6. Genetic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-136702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-127558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-118414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-1092708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-10012680"/>
            <a:ext cx="0" cy="1828801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-8183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-7269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-7269479"/>
            <a:ext cx="3803904" cy="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-6355079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-45262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-36118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-26974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-1783079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-868679"/>
            <a:ext cx="0" cy="9143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72000" y="-3611879"/>
            <a:ext cx="0" cy="3657599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457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874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2788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3703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4617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5532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6446520"/>
            <a:ext cx="0" cy="1828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8095" y="8275320"/>
            <a:ext cx="3803905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5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5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82753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75904" y="9189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75904" y="10104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75904" y="110185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75904" y="119329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75904" y="128473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75904" y="11018520"/>
            <a:ext cx="0" cy="27432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75904" y="137617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14676120"/>
            <a:ext cx="0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75904" y="155905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522976" y="155905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375904" y="16504920"/>
            <a:ext cx="3803904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22976" y="16504920"/>
            <a:ext cx="2852928" cy="9144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572000" y="1874520"/>
            <a:ext cx="3803904" cy="15544800"/>
          </a:xfrm>
          <a:prstGeom prst="bentConnector3">
            <a:avLst/>
          </a:prstGeom>
          <a:ln w="19050">
            <a:solidFill>
              <a:srgbClr val="D2D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03904" y="-13926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1. Hardware Scaling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-13011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2. Start 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-12097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3. Query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-11183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4. Load Campus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-10268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5. Parse Pre-assignments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-8439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6. check_room_feasibility()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3904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7. Is it Feasible?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-7525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STOP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3904" y="-66111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8. HC-24 Filter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3904" y="-4782312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9. create_genome()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03904" y="-38679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10. Copy Fixed Genes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-29535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11. Iterate Sections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3904" y="-20391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12. Filter Valid 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-11247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13. Heuristic Placement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-210311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14. Population Full?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88689" y="1580083"/>
            <a:ext cx="1766620" cy="588873"/>
          </a:xfrm>
          <a:prstGeom prst="rect">
            <a:avLst/>
          </a:prstGeom>
          <a:solidFill>
            <a:srgbClr val="B79953"/>
          </a:solidFill>
          <a:ln w="38100">
            <a:solidFill>
              <a:srgbClr val="4B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15. Start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03904" y="2532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16. Inject New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03904" y="3447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17. Calculate Fitness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4361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18. Bitmask Caching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03904" y="5276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19. NSGA-II Sorting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03904" y="6190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20. Identify Best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8019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21. Flawless Schedule?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22. Perfect Auto-Stop!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23. Local Search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A85050"/>
                </a:solidFill>
              </a:defRPr>
            </a:pPr>
            <a:r>
              <a:t>24. Return Best Schedule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07808" y="8933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25. Elitism Selection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808" y="9848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26. Refill New Pool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07808" y="10762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27. select_parents()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07808" y="11676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28. crossover(p1, p2)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808" y="12591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29. Append Child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135056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30. Pool Full?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07808" y="144200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31. proportional_mutate()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808" y="153344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32. Has Conflicts?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33. 10% Random Move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62488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52A350"/>
                </a:solidFill>
              </a:defRPr>
            </a:pPr>
            <a:r>
              <a:t>34. Targeted Repair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808" y="17163288"/>
            <a:ext cx="1536192" cy="512063"/>
          </a:xfrm>
          <a:prstGeom prst="rect">
            <a:avLst/>
          </a:prstGeom>
          <a:solidFill>
            <a:srgbClr val="FFFFFF"/>
          </a:solidFill>
          <a:ln w="19050">
            <a:solidFill>
              <a:srgbClr val="B4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800" b="1">
                <a:solidFill>
                  <a:srgbClr val="4B5341"/>
                </a:solidFill>
              </a:defRPr>
            </a:pPr>
            <a:r>
              <a:t>35. Replace Population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CFAF3"/>
          </a:solidFill>
          <a:ln w="25400">
            <a:solidFill>
              <a:srgbClr val="B7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0" y="4846320"/>
            <a:ext cx="9144000" cy="365760"/>
          </a:xfrm>
          <a:prstGeom prst="rect">
            <a:avLst/>
          </a:prstGeom>
          <a:solidFill>
            <a:srgbClr val="4B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5341"/>
                </a:solidFill>
              </a:defRPr>
            </a:pPr>
            <a:r>
              <a:t>BOX 15: Start Loop</a:t>
            </a:r>
            <a:br/>
            <a:endParaRPr/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Starts the main generational NSGA-II loop. Sample: Generation counter sets to 1. Visualization: The starting gun of a marathon race.</a:t>
            </a:r>
          </a:p>
        </p:txBody>
      </p:sp>
    </p:spTree>
    <p:extLst>
      <p:ext uri="{BB962C8B-B14F-4D97-AF65-F5344CB8AC3E}">
        <p14:creationId xmlns:p14="http://schemas.microsoft.com/office/powerpoint/2010/main" val="4282048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8270</Words>
  <Application>Microsoft Office PowerPoint</Application>
  <PresentationFormat>On-screen Show (16:9)</PresentationFormat>
  <Paragraphs>1593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2026-05-17T12:24:53Z</dcterms:modified>
  <cp:category/>
</cp:coreProperties>
</file>